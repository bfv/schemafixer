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336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1533-C583-C030-B63D-A99549B31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765E9-90C6-1FEB-AA84-669F6E432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29742-39C4-0344-805E-7C5CEC96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085C6-6E4D-28BB-B2FA-7665967E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47E6C-E85F-E875-B20F-2A1689C8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52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1108-496A-2AEF-6FE7-F83D64B8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E495-796D-CF29-EB63-E9C9590A7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30CF7-2DE1-4190-5A72-5A6A235A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D9A93-CA62-3397-D053-F4477B7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5BF36-1245-3EFF-A636-2E8A74F6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1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6AC0-1162-EF4C-23D9-490DD3E2F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A36AA-1602-707A-F758-33F091AAB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97FE4-E527-7810-3CFB-8809D097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66706-CB7D-B701-82A8-6C904268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99A13-EB6B-5D0D-5819-8EFC9765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124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247E-4D3F-D13B-FC57-9A4B7093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1D5A-6827-02CE-1C85-697DDE022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99AAD-F30C-6C1D-2AB8-F61570AB1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D590D-DB62-8607-0D04-0833D033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1B1AE-2692-78C4-C968-58C3115A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C354D-0F15-B06F-5B52-1FB95E26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20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B230-7E1F-3DD8-5288-814E7A3EE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3BCAD-349E-387C-8B0B-F085A9CC2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E4AED-6740-0102-A0EB-239B4718A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E3DDD-1882-4C34-0C63-FA58CFE03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95753-1D4F-2C12-FA21-B44BD3788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6FE4C-CD8F-07D7-E18D-37BAB1D2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83FF0-30F4-37A0-FCAE-BC2B4A6B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4CBB0-16A4-5302-934F-B1DDC9F4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243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2149-ABB5-6391-E57D-1A422086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D2D6B-492D-1874-3799-8C72570C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EA114-A8C0-E0E1-6B2A-043A2D37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13675-835B-B417-1BA4-AD55D1DA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9446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7091F-C58C-D1F9-3CA4-A9382FC7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A584A-2630-D2FA-31B3-0195C9B1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17A14-76C3-6E02-EAB9-621F80BE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207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161C-D7B4-961E-937F-A548CFF1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7EFF-D8F8-BA9F-D7A3-D46D586AD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11C91-F6A8-3E64-C594-24BA497AF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8A6C3-5CB1-8E36-36D8-2AC61405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EE563-0FD4-4D14-F2E7-D0342EF6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DD643-CD49-11EC-2FE0-4C19688D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219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E6EA-FF7B-DFD9-9BE9-EE3E054E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CC696-D2BB-12E0-306E-EDB942583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CAE04-26C4-40E5-BB62-48A4BF905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53248-4D45-CCB4-00B1-67D3F66C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B76EF-2C6B-9490-00EB-AED42266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9F443-B2AD-84D6-A488-CD347F88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445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EA4E-0386-46F4-2A9D-30678E44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3162A-807A-C575-5B0C-C29CEF128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715FD-D000-1A23-93DC-0C075E20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D40A3-A899-2A4D-1DCF-FE633F18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00847-6263-D9D1-8D63-7F3726B3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218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7F6CB-A9CA-0301-F764-7AD6FAA2D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BA58F-0793-9778-34D9-5D4FBBAE8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32A9F-A0F7-417E-62C1-B3D1D356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F44B-465F-A79A-CF06-25ACF522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489B6-BD03-3364-41E7-8765F917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598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591AA-1C33-6099-4316-F0DE9FCC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AD2B8-E4AB-A32D-FB34-9EFC9CE92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DB5B6-38C5-D219-64DD-831FBD3F5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E2552-5D4B-4471-AE4F-445F1C1807BC}" type="datetimeFigureOut">
              <a:rPr lang="nl-NL" smtClean="0"/>
              <a:t>26-2-2026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2F5A6-98AF-0801-9F2A-8CD53808F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485C3-86A7-EC59-A922-CD57A79BA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44775-1D24-46C1-8FDA-B52AE81567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944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5B0DC35-5E08-40F9-8EE4-88806899A4C9}"/>
              </a:ext>
            </a:extLst>
          </p:cNvPr>
          <p:cNvGrpSpPr/>
          <p:nvPr/>
        </p:nvGrpSpPr>
        <p:grpSpPr>
          <a:xfrm>
            <a:off x="1411941" y="468594"/>
            <a:ext cx="2987130" cy="2444233"/>
            <a:chOff x="1411941" y="468594"/>
            <a:chExt cx="2987130" cy="2444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777E0A-746C-1D6A-C328-AD118D9BD1FC}"/>
                </a:ext>
              </a:extLst>
            </p:cNvPr>
            <p:cNvSpPr/>
            <p:nvPr/>
          </p:nvSpPr>
          <p:spPr>
            <a:xfrm>
              <a:off x="1411941" y="921124"/>
              <a:ext cx="2864887" cy="1904999"/>
            </a:xfrm>
            <a:custGeom>
              <a:avLst/>
              <a:gdLst>
                <a:gd name="csX0" fmla="*/ 0 w 2864887"/>
                <a:gd name="csY0" fmla="*/ 0 h 1904999"/>
                <a:gd name="csX1" fmla="*/ 544329 w 2864887"/>
                <a:gd name="csY1" fmla="*/ 0 h 1904999"/>
                <a:gd name="csX2" fmla="*/ 1031359 w 2864887"/>
                <a:gd name="csY2" fmla="*/ 0 h 1904999"/>
                <a:gd name="csX3" fmla="*/ 1661634 w 2864887"/>
                <a:gd name="csY3" fmla="*/ 0 h 1904999"/>
                <a:gd name="csX4" fmla="*/ 2205963 w 2864887"/>
                <a:gd name="csY4" fmla="*/ 0 h 1904999"/>
                <a:gd name="csX5" fmla="*/ 2864887 w 2864887"/>
                <a:gd name="csY5" fmla="*/ 0 h 1904999"/>
                <a:gd name="csX6" fmla="*/ 2864887 w 2864887"/>
                <a:gd name="csY6" fmla="*/ 673100 h 1904999"/>
                <a:gd name="csX7" fmla="*/ 2864887 w 2864887"/>
                <a:gd name="csY7" fmla="*/ 1308099 h 1904999"/>
                <a:gd name="csX8" fmla="*/ 2864887 w 2864887"/>
                <a:gd name="csY8" fmla="*/ 1904999 h 1904999"/>
                <a:gd name="csX9" fmla="*/ 2349207 w 2864887"/>
                <a:gd name="csY9" fmla="*/ 1904999 h 1904999"/>
                <a:gd name="csX10" fmla="*/ 1776230 w 2864887"/>
                <a:gd name="csY10" fmla="*/ 1904999 h 1904999"/>
                <a:gd name="csX11" fmla="*/ 1203253 w 2864887"/>
                <a:gd name="csY11" fmla="*/ 1904999 h 1904999"/>
                <a:gd name="csX12" fmla="*/ 658924 w 2864887"/>
                <a:gd name="csY12" fmla="*/ 1904999 h 1904999"/>
                <a:gd name="csX13" fmla="*/ 0 w 2864887"/>
                <a:gd name="csY13" fmla="*/ 1904999 h 1904999"/>
                <a:gd name="csX14" fmla="*/ 0 w 2864887"/>
                <a:gd name="csY14" fmla="*/ 1231899 h 1904999"/>
                <a:gd name="csX15" fmla="*/ 0 w 2864887"/>
                <a:gd name="csY15" fmla="*/ 558800 h 1904999"/>
                <a:gd name="csX16" fmla="*/ 0 w 2864887"/>
                <a:gd name="csY16" fmla="*/ 0 h 19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864887" h="1904999" extrusionOk="0">
                  <a:moveTo>
                    <a:pt x="0" y="0"/>
                  </a:moveTo>
                  <a:cubicBezTo>
                    <a:pt x="247803" y="8943"/>
                    <a:pt x="318149" y="15221"/>
                    <a:pt x="544329" y="0"/>
                  </a:cubicBezTo>
                  <a:cubicBezTo>
                    <a:pt x="770509" y="-15221"/>
                    <a:pt x="819617" y="-18610"/>
                    <a:pt x="1031359" y="0"/>
                  </a:cubicBezTo>
                  <a:cubicBezTo>
                    <a:pt x="1243101" y="18610"/>
                    <a:pt x="1430964" y="15647"/>
                    <a:pt x="1661634" y="0"/>
                  </a:cubicBezTo>
                  <a:cubicBezTo>
                    <a:pt x="1892304" y="-15647"/>
                    <a:pt x="2049137" y="-6252"/>
                    <a:pt x="2205963" y="0"/>
                  </a:cubicBezTo>
                  <a:cubicBezTo>
                    <a:pt x="2362789" y="6252"/>
                    <a:pt x="2707364" y="-8281"/>
                    <a:pt x="2864887" y="0"/>
                  </a:cubicBezTo>
                  <a:cubicBezTo>
                    <a:pt x="2857181" y="315963"/>
                    <a:pt x="2845281" y="488627"/>
                    <a:pt x="2864887" y="673100"/>
                  </a:cubicBezTo>
                  <a:cubicBezTo>
                    <a:pt x="2884493" y="857573"/>
                    <a:pt x="2839104" y="1099925"/>
                    <a:pt x="2864887" y="1308099"/>
                  </a:cubicBezTo>
                  <a:cubicBezTo>
                    <a:pt x="2890670" y="1516273"/>
                    <a:pt x="2857097" y="1645036"/>
                    <a:pt x="2864887" y="1904999"/>
                  </a:cubicBezTo>
                  <a:cubicBezTo>
                    <a:pt x="2752082" y="1879827"/>
                    <a:pt x="2568456" y="1916660"/>
                    <a:pt x="2349207" y="1904999"/>
                  </a:cubicBezTo>
                  <a:cubicBezTo>
                    <a:pt x="2129958" y="1893338"/>
                    <a:pt x="1954374" y="1898229"/>
                    <a:pt x="1776230" y="1904999"/>
                  </a:cubicBezTo>
                  <a:cubicBezTo>
                    <a:pt x="1598086" y="1911769"/>
                    <a:pt x="1449541" y="1890787"/>
                    <a:pt x="1203253" y="1904999"/>
                  </a:cubicBezTo>
                  <a:cubicBezTo>
                    <a:pt x="956965" y="1919211"/>
                    <a:pt x="921182" y="1900353"/>
                    <a:pt x="658924" y="1904999"/>
                  </a:cubicBezTo>
                  <a:cubicBezTo>
                    <a:pt x="396666" y="1909645"/>
                    <a:pt x="246075" y="1906550"/>
                    <a:pt x="0" y="1904999"/>
                  </a:cubicBezTo>
                  <a:cubicBezTo>
                    <a:pt x="9436" y="1581660"/>
                    <a:pt x="27840" y="1553277"/>
                    <a:pt x="0" y="1231899"/>
                  </a:cubicBezTo>
                  <a:cubicBezTo>
                    <a:pt x="-27840" y="910521"/>
                    <a:pt x="27679" y="709034"/>
                    <a:pt x="0" y="558800"/>
                  </a:cubicBezTo>
                  <a:cubicBezTo>
                    <a:pt x="-27679" y="408566"/>
                    <a:pt x="12160" y="222463"/>
                    <a:pt x="0" y="0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1E78AD-9754-B7EE-E565-9EFB8B26307A}"/>
                </a:ext>
              </a:extLst>
            </p:cNvPr>
            <p:cNvSpPr txBox="1"/>
            <p:nvPr/>
          </p:nvSpPr>
          <p:spPr>
            <a:xfrm>
              <a:off x="1534184" y="973835"/>
              <a:ext cx="2864887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nsolas" panose="020B0609020204030204" pitchFamily="49" charset="0"/>
                </a:rPr>
                <a:t>ADD TABLE "customer"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AREA "Schema Area"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DUMP-NAME "customer"</a:t>
              </a:r>
            </a:p>
            <a:p>
              <a:endParaRPr lang="en-US" sz="1000" dirty="0">
                <a:latin typeface="Consolas" panose="020B0609020204030204" pitchFamily="49" charset="0"/>
              </a:endParaRPr>
            </a:p>
            <a:p>
              <a:r>
                <a:rPr lang="en-US" sz="1000" dirty="0">
                  <a:latin typeface="Consolas" panose="020B0609020204030204" pitchFamily="49" charset="0"/>
                </a:rPr>
                <a:t>ADD FIELD "id" OF "customer" AS int64 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FORMAT "-&gt;,&gt;&gt;&gt;,&gt;&gt;9"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...</a:t>
              </a:r>
            </a:p>
            <a:p>
              <a:endParaRPr lang="en-US" sz="1000" dirty="0">
                <a:latin typeface="Consolas" panose="020B0609020204030204" pitchFamily="49" charset="0"/>
              </a:endParaRPr>
            </a:p>
            <a:p>
              <a:r>
                <a:rPr lang="en-US" sz="1000" dirty="0">
                  <a:latin typeface="Consolas" panose="020B0609020204030204" pitchFamily="49" charset="0"/>
                </a:rPr>
                <a:t>ADD INDEX "pk" ON "</a:t>
              </a:r>
              <a:r>
                <a:rPr lang="en-US" sz="1000" dirty="0" err="1">
                  <a:latin typeface="Consolas" panose="020B0609020204030204" pitchFamily="49" charset="0"/>
                </a:rPr>
                <a:t>testtable</a:t>
              </a:r>
              <a:r>
                <a:rPr lang="en-US" sz="1000" dirty="0">
                  <a:latin typeface="Consolas" panose="020B0609020204030204" pitchFamily="49" charset="0"/>
                </a:rPr>
                <a:t>" 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AREA "Schema Area"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INDEX-FIELD "id" ASCENDING </a:t>
              </a:r>
            </a:p>
            <a:p>
              <a:endParaRPr lang="nl-NL" sz="1000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4120DC-D4A2-5E5C-EE10-0CB79DF970B6}"/>
                </a:ext>
              </a:extLst>
            </p:cNvPr>
            <p:cNvSpPr txBox="1"/>
            <p:nvPr/>
          </p:nvSpPr>
          <p:spPr>
            <a:xfrm>
              <a:off x="1450306" y="468594"/>
              <a:ext cx="16562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flusso.df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(from Git)</a:t>
              </a:r>
              <a:endParaRPr lang="nl-NL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7D6523-04C6-5811-301E-28E8CE1B0795}"/>
              </a:ext>
            </a:extLst>
          </p:cNvPr>
          <p:cNvGrpSpPr/>
          <p:nvPr/>
        </p:nvGrpSpPr>
        <p:grpSpPr>
          <a:xfrm>
            <a:off x="1411941" y="3059668"/>
            <a:ext cx="2288241" cy="2160031"/>
            <a:chOff x="1411941" y="3059668"/>
            <a:chExt cx="2288241" cy="21600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F0C606-B105-B2BF-00DC-B36AEEF855F8}"/>
                </a:ext>
              </a:extLst>
            </p:cNvPr>
            <p:cNvSpPr/>
            <p:nvPr/>
          </p:nvSpPr>
          <p:spPr>
            <a:xfrm>
              <a:off x="1411941" y="3429000"/>
              <a:ext cx="2288241" cy="1790699"/>
            </a:xfrm>
            <a:custGeom>
              <a:avLst/>
              <a:gdLst>
                <a:gd name="csX0" fmla="*/ 0 w 2288241"/>
                <a:gd name="csY0" fmla="*/ 0 h 1790699"/>
                <a:gd name="csX1" fmla="*/ 549178 w 2288241"/>
                <a:gd name="csY1" fmla="*/ 0 h 1790699"/>
                <a:gd name="csX2" fmla="*/ 1052591 w 2288241"/>
                <a:gd name="csY2" fmla="*/ 0 h 1790699"/>
                <a:gd name="csX3" fmla="*/ 1670416 w 2288241"/>
                <a:gd name="csY3" fmla="*/ 0 h 1790699"/>
                <a:gd name="csX4" fmla="*/ 2288241 w 2288241"/>
                <a:gd name="csY4" fmla="*/ 0 h 1790699"/>
                <a:gd name="csX5" fmla="*/ 2288241 w 2288241"/>
                <a:gd name="csY5" fmla="*/ 578993 h 1790699"/>
                <a:gd name="csX6" fmla="*/ 2288241 w 2288241"/>
                <a:gd name="csY6" fmla="*/ 1140078 h 1790699"/>
                <a:gd name="csX7" fmla="*/ 2288241 w 2288241"/>
                <a:gd name="csY7" fmla="*/ 1790699 h 1790699"/>
                <a:gd name="csX8" fmla="*/ 1716181 w 2288241"/>
                <a:gd name="csY8" fmla="*/ 1790699 h 1790699"/>
                <a:gd name="csX9" fmla="*/ 1212768 w 2288241"/>
                <a:gd name="csY9" fmla="*/ 1790699 h 1790699"/>
                <a:gd name="csX10" fmla="*/ 640707 w 2288241"/>
                <a:gd name="csY10" fmla="*/ 1790699 h 1790699"/>
                <a:gd name="csX11" fmla="*/ 0 w 2288241"/>
                <a:gd name="csY11" fmla="*/ 1790699 h 1790699"/>
                <a:gd name="csX12" fmla="*/ 0 w 2288241"/>
                <a:gd name="csY12" fmla="*/ 1211706 h 1790699"/>
                <a:gd name="csX13" fmla="*/ 0 w 2288241"/>
                <a:gd name="csY13" fmla="*/ 632714 h 1790699"/>
                <a:gd name="csX14" fmla="*/ 0 w 2288241"/>
                <a:gd name="csY14" fmla="*/ 0 h 1790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288241" h="1790699" extrusionOk="0">
                  <a:moveTo>
                    <a:pt x="0" y="0"/>
                  </a:moveTo>
                  <a:cubicBezTo>
                    <a:pt x="173409" y="15210"/>
                    <a:pt x="402884" y="-17238"/>
                    <a:pt x="549178" y="0"/>
                  </a:cubicBezTo>
                  <a:cubicBezTo>
                    <a:pt x="695472" y="17238"/>
                    <a:pt x="842697" y="-12347"/>
                    <a:pt x="1052591" y="0"/>
                  </a:cubicBezTo>
                  <a:cubicBezTo>
                    <a:pt x="1262485" y="12347"/>
                    <a:pt x="1468991" y="-18845"/>
                    <a:pt x="1670416" y="0"/>
                  </a:cubicBezTo>
                  <a:cubicBezTo>
                    <a:pt x="1871842" y="18845"/>
                    <a:pt x="2138197" y="-29451"/>
                    <a:pt x="2288241" y="0"/>
                  </a:cubicBezTo>
                  <a:cubicBezTo>
                    <a:pt x="2266957" y="143787"/>
                    <a:pt x="2274875" y="348808"/>
                    <a:pt x="2288241" y="578993"/>
                  </a:cubicBezTo>
                  <a:cubicBezTo>
                    <a:pt x="2301607" y="809178"/>
                    <a:pt x="2291088" y="937547"/>
                    <a:pt x="2288241" y="1140078"/>
                  </a:cubicBezTo>
                  <a:cubicBezTo>
                    <a:pt x="2285394" y="1342609"/>
                    <a:pt x="2310527" y="1518657"/>
                    <a:pt x="2288241" y="1790699"/>
                  </a:cubicBezTo>
                  <a:cubicBezTo>
                    <a:pt x="2093101" y="1782933"/>
                    <a:pt x="1940341" y="1811545"/>
                    <a:pt x="1716181" y="1790699"/>
                  </a:cubicBezTo>
                  <a:cubicBezTo>
                    <a:pt x="1492021" y="1769853"/>
                    <a:pt x="1446010" y="1806195"/>
                    <a:pt x="1212768" y="1790699"/>
                  </a:cubicBezTo>
                  <a:cubicBezTo>
                    <a:pt x="979526" y="1775203"/>
                    <a:pt x="789592" y="1801399"/>
                    <a:pt x="640707" y="1790699"/>
                  </a:cubicBezTo>
                  <a:cubicBezTo>
                    <a:pt x="491822" y="1779999"/>
                    <a:pt x="208209" y="1787922"/>
                    <a:pt x="0" y="1790699"/>
                  </a:cubicBezTo>
                  <a:cubicBezTo>
                    <a:pt x="27240" y="1560985"/>
                    <a:pt x="-21835" y="1419143"/>
                    <a:pt x="0" y="1211706"/>
                  </a:cubicBezTo>
                  <a:cubicBezTo>
                    <a:pt x="21835" y="1004269"/>
                    <a:pt x="7956" y="762162"/>
                    <a:pt x="0" y="632714"/>
                  </a:cubicBezTo>
                  <a:cubicBezTo>
                    <a:pt x="-7956" y="503266"/>
                    <a:pt x="-11873" y="132263"/>
                    <a:pt x="0" y="0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285D84-7871-E3BC-9C34-CA344B3DBC0E}"/>
                </a:ext>
              </a:extLst>
            </p:cNvPr>
            <p:cNvSpPr txBox="1"/>
            <p:nvPr/>
          </p:nvSpPr>
          <p:spPr>
            <a:xfrm>
              <a:off x="1535206" y="3515704"/>
              <a:ext cx="1877437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000" dirty="0">
                  <a:latin typeface="Consolas" panose="020B0609020204030204" pitchFamily="49" charset="0"/>
                </a:rPr>
                <a:t>schemafixer:</a:t>
              </a:r>
            </a:p>
            <a:p>
              <a:r>
                <a:rPr lang="nl-NL" sz="1000" dirty="0">
                  <a:latin typeface="Consolas" panose="020B0609020204030204" pitchFamily="49" charset="0"/>
                </a:rPr>
                <a:t>  </a:t>
              </a:r>
              <a:r>
                <a:rPr lang="nl-NL" sz="1000" dirty="0" err="1">
                  <a:latin typeface="Consolas" panose="020B0609020204030204" pitchFamily="49" charset="0"/>
                </a:rPr>
                <a:t>version</a:t>
              </a:r>
              <a:r>
                <a:rPr lang="nl-NL" sz="1000" dirty="0">
                  <a:latin typeface="Consolas" panose="020B0609020204030204" pitchFamily="49" charset="0"/>
                </a:rPr>
                <a:t>: 1.0</a:t>
              </a:r>
            </a:p>
            <a:p>
              <a:r>
                <a:rPr lang="nl-NL" sz="1000" dirty="0">
                  <a:latin typeface="Consolas" panose="020B0609020204030204" pitchFamily="49" charset="0"/>
                </a:rPr>
                <a:t>  </a:t>
              </a:r>
              <a:r>
                <a:rPr lang="nl-NL" sz="1000" dirty="0" err="1">
                  <a:latin typeface="Consolas" panose="020B0609020204030204" pitchFamily="49" charset="0"/>
                </a:rPr>
                <a:t>defaults</a:t>
              </a:r>
              <a:r>
                <a:rPr lang="nl-NL" sz="1000" dirty="0">
                  <a:latin typeface="Consolas" panose="020B0609020204030204" pitchFamily="49" charset="0"/>
                </a:rPr>
                <a:t>:</a:t>
              </a:r>
            </a:p>
            <a:p>
              <a:r>
                <a:rPr lang="nl-NL" sz="1000" dirty="0">
                  <a:latin typeface="Consolas" panose="020B0609020204030204" pitchFamily="49" charset="0"/>
                </a:rPr>
                <a:t>    </a:t>
              </a:r>
              <a:r>
                <a:rPr lang="nl-NL" sz="1000" dirty="0" err="1">
                  <a:latin typeface="Consolas" panose="020B0609020204030204" pitchFamily="49" charset="0"/>
                </a:rPr>
                <a:t>table</a:t>
              </a:r>
              <a:r>
                <a:rPr lang="nl-NL" sz="1000" dirty="0">
                  <a:latin typeface="Consolas" panose="020B0609020204030204" pitchFamily="49" charset="0"/>
                </a:rPr>
                <a:t>: </a:t>
              </a:r>
              <a:r>
                <a:rPr lang="nl-NL" sz="1000" dirty="0" err="1">
                  <a:latin typeface="Consolas" panose="020B0609020204030204" pitchFamily="49" charset="0"/>
                </a:rPr>
                <a:t>DataArea</a:t>
              </a:r>
              <a:endParaRPr lang="nl-NL" sz="1000" dirty="0">
                <a:latin typeface="Consolas" panose="020B0609020204030204" pitchFamily="49" charset="0"/>
              </a:endParaRPr>
            </a:p>
            <a:p>
              <a:r>
                <a:rPr lang="nl-NL" sz="1000" dirty="0">
                  <a:latin typeface="Consolas" panose="020B0609020204030204" pitchFamily="49" charset="0"/>
                </a:rPr>
                <a:t>    index: </a:t>
              </a:r>
              <a:r>
                <a:rPr lang="nl-NL" sz="1000" dirty="0" err="1">
                  <a:latin typeface="Consolas" panose="020B0609020204030204" pitchFamily="49" charset="0"/>
                </a:rPr>
                <a:t>IndexArea</a:t>
              </a:r>
              <a:endParaRPr lang="nl-NL" sz="1000" dirty="0">
                <a:latin typeface="Consolas" panose="020B0609020204030204" pitchFamily="49" charset="0"/>
              </a:endParaRPr>
            </a:p>
            <a:p>
              <a:r>
                <a:rPr lang="nl-NL" sz="1000" dirty="0">
                  <a:latin typeface="Consolas" panose="020B0609020204030204" pitchFamily="49" charset="0"/>
                </a:rPr>
                <a:t>    lob: </a:t>
              </a:r>
              <a:r>
                <a:rPr lang="nl-NL" sz="1000" dirty="0" err="1">
                  <a:latin typeface="Consolas" panose="020B0609020204030204" pitchFamily="49" charset="0"/>
                </a:rPr>
                <a:t>LobArea</a:t>
              </a:r>
              <a:endParaRPr lang="nl-NL" sz="1000" dirty="0">
                <a:latin typeface="Consolas" panose="020B0609020204030204" pitchFamily="49" charset="0"/>
              </a:endParaRPr>
            </a:p>
            <a:p>
              <a:r>
                <a:rPr lang="nl-NL" sz="1000" dirty="0">
                  <a:latin typeface="Consolas" panose="020B0609020204030204" pitchFamily="49" charset="0"/>
                </a:rPr>
                <a:t>  </a:t>
              </a:r>
              <a:r>
                <a:rPr lang="nl-NL" sz="1000" dirty="0" err="1">
                  <a:latin typeface="Consolas" panose="020B0609020204030204" pitchFamily="49" charset="0"/>
                </a:rPr>
                <a:t>tables</a:t>
              </a:r>
              <a:r>
                <a:rPr lang="nl-NL" sz="1000" dirty="0">
                  <a:latin typeface="Consolas" panose="020B0609020204030204" pitchFamily="49" charset="0"/>
                </a:rPr>
                <a:t>:</a:t>
              </a:r>
            </a:p>
            <a:p>
              <a:r>
                <a:rPr lang="nl-NL" sz="1000" dirty="0">
                  <a:latin typeface="Consolas" panose="020B0609020204030204" pitchFamily="49" charset="0"/>
                </a:rPr>
                <a:t>    - name: customer</a:t>
              </a:r>
            </a:p>
            <a:p>
              <a:r>
                <a:rPr lang="nl-NL" sz="1000" dirty="0">
                  <a:latin typeface="Consolas" panose="020B0609020204030204" pitchFamily="49" charset="0"/>
                </a:rPr>
                <a:t>      area: </a:t>
              </a:r>
              <a:r>
                <a:rPr lang="nl-NL" sz="1000" dirty="0" err="1">
                  <a:latin typeface="Consolas" panose="020B0609020204030204" pitchFamily="49" charset="0"/>
                </a:rPr>
                <a:t>CustomerArea</a:t>
              </a:r>
              <a:endParaRPr lang="nl-NL" sz="1000" dirty="0">
                <a:latin typeface="Consolas" panose="020B0609020204030204" pitchFamily="49" charset="0"/>
              </a:endParaRPr>
            </a:p>
            <a:p>
              <a:r>
                <a:rPr lang="nl-NL" sz="1000" dirty="0">
                  <a:latin typeface="Consolas" panose="020B0609020204030204" pitchFamily="49" charset="0"/>
                </a:rPr>
                <a:t>      </a:t>
              </a:r>
              <a:r>
                <a:rPr lang="nl-NL" sz="1000" dirty="0" err="1">
                  <a:latin typeface="Consolas" panose="020B0609020204030204" pitchFamily="49" charset="0"/>
                </a:rPr>
                <a:t>indexes</a:t>
              </a:r>
              <a:r>
                <a:rPr lang="nl-NL" sz="1000" dirty="0">
                  <a:latin typeface="Consolas" panose="020B0609020204030204" pitchFamily="49" charset="0"/>
                </a:rPr>
                <a:t>: {}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2DE8B6-43E3-0F73-CCE5-477674775062}"/>
                </a:ext>
              </a:extLst>
            </p:cNvPr>
            <p:cNvSpPr txBox="1"/>
            <p:nvPr/>
          </p:nvSpPr>
          <p:spPr>
            <a:xfrm>
              <a:off x="1411941" y="3059668"/>
              <a:ext cx="14173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rules-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prod.yaml</a:t>
              </a:r>
              <a:endParaRPr lang="nl-NL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0F0DF891-C7D5-B878-87CF-C90CAE53C77B}"/>
              </a:ext>
            </a:extLst>
          </p:cNvPr>
          <p:cNvSpPr/>
          <p:nvPr/>
        </p:nvSpPr>
        <p:spPr>
          <a:xfrm>
            <a:off x="5251075" y="2602006"/>
            <a:ext cx="3375213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3DBD67-DD52-A51F-26BE-F8EB6E8FE790}"/>
              </a:ext>
            </a:extLst>
          </p:cNvPr>
          <p:cNvSpPr txBox="1"/>
          <p:nvPr/>
        </p:nvSpPr>
        <p:spPr>
          <a:xfrm>
            <a:off x="5345206" y="2912827"/>
            <a:ext cx="32175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dirty="0">
                <a:latin typeface="Consolas" panose="020B0609020204030204" pitchFamily="49" charset="0"/>
              </a:rPr>
              <a:t>schemafixer </a:t>
            </a:r>
            <a:r>
              <a:rPr lang="nl-NL" sz="1000" dirty="0" err="1">
                <a:latin typeface="Consolas" panose="020B0609020204030204" pitchFamily="49" charset="0"/>
              </a:rPr>
              <a:t>apply</a:t>
            </a:r>
            <a:r>
              <a:rPr lang="nl-NL" sz="1000" dirty="0">
                <a:latin typeface="Consolas" panose="020B0609020204030204" pitchFamily="49" charset="0"/>
              </a:rPr>
              <a:t> </a:t>
            </a:r>
            <a:r>
              <a:rPr lang="nl-NL" sz="1000" dirty="0" err="1">
                <a:latin typeface="Consolas" panose="020B0609020204030204" pitchFamily="49" charset="0"/>
              </a:rPr>
              <a:t>flusso.df</a:t>
            </a:r>
            <a:r>
              <a:rPr lang="nl-NL" sz="1000" dirty="0">
                <a:latin typeface="Consolas" panose="020B0609020204030204" pitchFamily="49" charset="0"/>
              </a:rPr>
              <a:t> </a:t>
            </a:r>
            <a:r>
              <a:rPr lang="nl-NL" sz="1000" dirty="0" err="1">
                <a:latin typeface="Consolas" panose="020B0609020204030204" pitchFamily="49" charset="0"/>
              </a:rPr>
              <a:t>rules-prod.yaml</a:t>
            </a:r>
            <a:endParaRPr lang="nl-NL" sz="1000" dirty="0">
              <a:latin typeface="Consolas" panose="020B0609020204030204" pitchFamily="49" charset="0"/>
            </a:endParaRP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5F48790-8F62-53C1-83C5-4031B0C45735}"/>
              </a:ext>
            </a:extLst>
          </p:cNvPr>
          <p:cNvSpPr/>
          <p:nvPr/>
        </p:nvSpPr>
        <p:spPr>
          <a:xfrm rot="16200000" flipH="1" flipV="1">
            <a:off x="5481087" y="773848"/>
            <a:ext cx="590731" cy="275476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4D5BCFCD-14CC-2EDA-986D-D4729F44F4F7}"/>
              </a:ext>
            </a:extLst>
          </p:cNvPr>
          <p:cNvSpPr/>
          <p:nvPr/>
        </p:nvSpPr>
        <p:spPr>
          <a:xfrm rot="16200000" flipV="1">
            <a:off x="5145062" y="2402632"/>
            <a:ext cx="687157" cy="333038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90EE77-D580-F309-2383-A1B82B0C5ABF}"/>
              </a:ext>
            </a:extLst>
          </p:cNvPr>
          <p:cNvGrpSpPr/>
          <p:nvPr/>
        </p:nvGrpSpPr>
        <p:grpSpPr>
          <a:xfrm>
            <a:off x="8562753" y="3827227"/>
            <a:ext cx="2916598" cy="1904999"/>
            <a:chOff x="1411941" y="921124"/>
            <a:chExt cx="2916598" cy="1904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D3A78A-1DA5-28C0-08BB-FEF0B872814F}"/>
                </a:ext>
              </a:extLst>
            </p:cNvPr>
            <p:cNvSpPr/>
            <p:nvPr/>
          </p:nvSpPr>
          <p:spPr>
            <a:xfrm>
              <a:off x="1411941" y="921124"/>
              <a:ext cx="2864887" cy="1904999"/>
            </a:xfrm>
            <a:custGeom>
              <a:avLst/>
              <a:gdLst>
                <a:gd name="csX0" fmla="*/ 0 w 2864887"/>
                <a:gd name="csY0" fmla="*/ 0 h 1904999"/>
                <a:gd name="csX1" fmla="*/ 544329 w 2864887"/>
                <a:gd name="csY1" fmla="*/ 0 h 1904999"/>
                <a:gd name="csX2" fmla="*/ 1031359 w 2864887"/>
                <a:gd name="csY2" fmla="*/ 0 h 1904999"/>
                <a:gd name="csX3" fmla="*/ 1661634 w 2864887"/>
                <a:gd name="csY3" fmla="*/ 0 h 1904999"/>
                <a:gd name="csX4" fmla="*/ 2205963 w 2864887"/>
                <a:gd name="csY4" fmla="*/ 0 h 1904999"/>
                <a:gd name="csX5" fmla="*/ 2864887 w 2864887"/>
                <a:gd name="csY5" fmla="*/ 0 h 1904999"/>
                <a:gd name="csX6" fmla="*/ 2864887 w 2864887"/>
                <a:gd name="csY6" fmla="*/ 673100 h 1904999"/>
                <a:gd name="csX7" fmla="*/ 2864887 w 2864887"/>
                <a:gd name="csY7" fmla="*/ 1308099 h 1904999"/>
                <a:gd name="csX8" fmla="*/ 2864887 w 2864887"/>
                <a:gd name="csY8" fmla="*/ 1904999 h 1904999"/>
                <a:gd name="csX9" fmla="*/ 2349207 w 2864887"/>
                <a:gd name="csY9" fmla="*/ 1904999 h 1904999"/>
                <a:gd name="csX10" fmla="*/ 1776230 w 2864887"/>
                <a:gd name="csY10" fmla="*/ 1904999 h 1904999"/>
                <a:gd name="csX11" fmla="*/ 1203253 w 2864887"/>
                <a:gd name="csY11" fmla="*/ 1904999 h 1904999"/>
                <a:gd name="csX12" fmla="*/ 658924 w 2864887"/>
                <a:gd name="csY12" fmla="*/ 1904999 h 1904999"/>
                <a:gd name="csX13" fmla="*/ 0 w 2864887"/>
                <a:gd name="csY13" fmla="*/ 1904999 h 1904999"/>
                <a:gd name="csX14" fmla="*/ 0 w 2864887"/>
                <a:gd name="csY14" fmla="*/ 1231899 h 1904999"/>
                <a:gd name="csX15" fmla="*/ 0 w 2864887"/>
                <a:gd name="csY15" fmla="*/ 558800 h 1904999"/>
                <a:gd name="csX16" fmla="*/ 0 w 2864887"/>
                <a:gd name="csY16" fmla="*/ 0 h 19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864887" h="1904999" extrusionOk="0">
                  <a:moveTo>
                    <a:pt x="0" y="0"/>
                  </a:moveTo>
                  <a:cubicBezTo>
                    <a:pt x="247803" y="8943"/>
                    <a:pt x="318149" y="15221"/>
                    <a:pt x="544329" y="0"/>
                  </a:cubicBezTo>
                  <a:cubicBezTo>
                    <a:pt x="770509" y="-15221"/>
                    <a:pt x="819617" y="-18610"/>
                    <a:pt x="1031359" y="0"/>
                  </a:cubicBezTo>
                  <a:cubicBezTo>
                    <a:pt x="1243101" y="18610"/>
                    <a:pt x="1430964" y="15647"/>
                    <a:pt x="1661634" y="0"/>
                  </a:cubicBezTo>
                  <a:cubicBezTo>
                    <a:pt x="1892304" y="-15647"/>
                    <a:pt x="2049137" y="-6252"/>
                    <a:pt x="2205963" y="0"/>
                  </a:cubicBezTo>
                  <a:cubicBezTo>
                    <a:pt x="2362789" y="6252"/>
                    <a:pt x="2707364" y="-8281"/>
                    <a:pt x="2864887" y="0"/>
                  </a:cubicBezTo>
                  <a:cubicBezTo>
                    <a:pt x="2857181" y="315963"/>
                    <a:pt x="2845281" y="488627"/>
                    <a:pt x="2864887" y="673100"/>
                  </a:cubicBezTo>
                  <a:cubicBezTo>
                    <a:pt x="2884493" y="857573"/>
                    <a:pt x="2839104" y="1099925"/>
                    <a:pt x="2864887" y="1308099"/>
                  </a:cubicBezTo>
                  <a:cubicBezTo>
                    <a:pt x="2890670" y="1516273"/>
                    <a:pt x="2857097" y="1645036"/>
                    <a:pt x="2864887" y="1904999"/>
                  </a:cubicBezTo>
                  <a:cubicBezTo>
                    <a:pt x="2752082" y="1879827"/>
                    <a:pt x="2568456" y="1916660"/>
                    <a:pt x="2349207" y="1904999"/>
                  </a:cubicBezTo>
                  <a:cubicBezTo>
                    <a:pt x="2129958" y="1893338"/>
                    <a:pt x="1954374" y="1898229"/>
                    <a:pt x="1776230" y="1904999"/>
                  </a:cubicBezTo>
                  <a:cubicBezTo>
                    <a:pt x="1598086" y="1911769"/>
                    <a:pt x="1449541" y="1890787"/>
                    <a:pt x="1203253" y="1904999"/>
                  </a:cubicBezTo>
                  <a:cubicBezTo>
                    <a:pt x="956965" y="1919211"/>
                    <a:pt x="921182" y="1900353"/>
                    <a:pt x="658924" y="1904999"/>
                  </a:cubicBezTo>
                  <a:cubicBezTo>
                    <a:pt x="396666" y="1909645"/>
                    <a:pt x="246075" y="1906550"/>
                    <a:pt x="0" y="1904999"/>
                  </a:cubicBezTo>
                  <a:cubicBezTo>
                    <a:pt x="9436" y="1581660"/>
                    <a:pt x="27840" y="1553277"/>
                    <a:pt x="0" y="1231899"/>
                  </a:cubicBezTo>
                  <a:cubicBezTo>
                    <a:pt x="-27840" y="910521"/>
                    <a:pt x="27679" y="709034"/>
                    <a:pt x="0" y="558800"/>
                  </a:cubicBezTo>
                  <a:cubicBezTo>
                    <a:pt x="-27679" y="408566"/>
                    <a:pt x="12160" y="222463"/>
                    <a:pt x="0" y="0"/>
                  </a:cubicBezTo>
                  <a:close/>
                </a:path>
              </a:pathLst>
            </a:custGeom>
            <a:noFill/>
            <a:ln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CDADDF0-53EC-D0FC-3044-5E3ADB3EA81D}"/>
                </a:ext>
              </a:extLst>
            </p:cNvPr>
            <p:cNvSpPr txBox="1"/>
            <p:nvPr/>
          </p:nvSpPr>
          <p:spPr>
            <a:xfrm>
              <a:off x="1534184" y="973835"/>
              <a:ext cx="2794355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nsolas" panose="020B0609020204030204" pitchFamily="49" charset="0"/>
                </a:rPr>
                <a:t>ADD TABLE "customer"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</a:t>
              </a:r>
              <a:r>
                <a:rPr lang="en-US" sz="1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AREA "</a:t>
              </a:r>
              <a:r>
                <a:rPr lang="en-US" sz="10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CustomerArea</a:t>
              </a:r>
              <a:r>
                <a:rPr lang="en-US" sz="1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DUMP-NAME "customer"</a:t>
              </a:r>
            </a:p>
            <a:p>
              <a:endParaRPr lang="en-US" sz="1000" dirty="0">
                <a:latin typeface="Consolas" panose="020B0609020204030204" pitchFamily="49" charset="0"/>
              </a:endParaRPr>
            </a:p>
            <a:p>
              <a:r>
                <a:rPr lang="en-US" sz="1000" dirty="0">
                  <a:latin typeface="Consolas" panose="020B0609020204030204" pitchFamily="49" charset="0"/>
                </a:rPr>
                <a:t>ADD FIELD "id" OF "customer" AS int64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FORMAT "-&gt;,&gt;&gt;&gt;,&gt;&gt;9"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...</a:t>
              </a:r>
            </a:p>
            <a:p>
              <a:endParaRPr lang="en-US" sz="1000" dirty="0">
                <a:latin typeface="Consolas" panose="020B0609020204030204" pitchFamily="49" charset="0"/>
              </a:endParaRPr>
            </a:p>
            <a:p>
              <a:r>
                <a:rPr lang="en-US" sz="1000" dirty="0">
                  <a:latin typeface="Consolas" panose="020B0609020204030204" pitchFamily="49" charset="0"/>
                </a:rPr>
                <a:t>ADD INDEX "pk" ON "</a:t>
              </a:r>
              <a:r>
                <a:rPr lang="en-US" sz="1000" dirty="0" err="1">
                  <a:latin typeface="Consolas" panose="020B0609020204030204" pitchFamily="49" charset="0"/>
                </a:rPr>
                <a:t>testtable</a:t>
              </a:r>
              <a:r>
                <a:rPr lang="en-US" sz="1000" dirty="0">
                  <a:latin typeface="Consolas" panose="020B0609020204030204" pitchFamily="49" charset="0"/>
                </a:rPr>
                <a:t>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</a:t>
              </a:r>
              <a:r>
                <a:rPr lang="en-US" sz="1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AREA "</a:t>
              </a:r>
              <a:r>
                <a:rPr lang="en-US" sz="10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IndexArea</a:t>
              </a:r>
              <a:r>
                <a:rPr lang="en-US" sz="1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"</a:t>
              </a:r>
            </a:p>
            <a:p>
              <a:r>
                <a:rPr lang="en-US" sz="1000" dirty="0">
                  <a:latin typeface="Consolas" panose="020B0609020204030204" pitchFamily="49" charset="0"/>
                </a:rPr>
                <a:t>  INDEX-FIELD "id" ASCENDING</a:t>
              </a:r>
              <a:endParaRPr lang="nl-NL" sz="10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25" name="Arrow: Bent 24">
            <a:extLst>
              <a:ext uri="{FF2B5EF4-FFF2-40B4-BE49-F238E27FC236}">
                <a16:creationId xmlns:a16="http://schemas.microsoft.com/office/drawing/2014/main" id="{35AA850D-A571-C6B0-D6C5-3A3C2844F3AE}"/>
              </a:ext>
            </a:extLst>
          </p:cNvPr>
          <p:cNvSpPr/>
          <p:nvPr/>
        </p:nvSpPr>
        <p:spPr>
          <a:xfrm rot="16200000" flipH="1" flipV="1">
            <a:off x="9099240" y="2609789"/>
            <a:ext cx="687160" cy="138857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2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Bronco Oostermeyer</dc:creator>
  <cp:lastModifiedBy>Bronco Oostermeyer</cp:lastModifiedBy>
  <cp:revision>2</cp:revision>
  <dcterms:created xsi:type="dcterms:W3CDTF">2026-02-25T12:06:38Z</dcterms:created>
  <dcterms:modified xsi:type="dcterms:W3CDTF">2026-02-27T07:30:53Z</dcterms:modified>
</cp:coreProperties>
</file>